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ora" pitchFamily="2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21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239764"/>
            <a:ext cx="6223638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Study of the Partnership Onboarding Process in Casita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4298950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Internship Report  |  Aaditya Kumar Choudhary  |  IILM University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34616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Executive Summary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283" y="2269133"/>
            <a:ext cx="5166886" cy="2927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8633" y="2726531"/>
            <a:ext cx="354122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Study 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958633" y="3058616"/>
            <a:ext cx="3541227" cy="175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Casita is a global student accommodation platform operating in </a:t>
            </a: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62+ countries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</a:t>
            </a: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1.5M+ rooms</a:t>
            </a:r>
            <a:endParaRPr lang="en-US" sz="115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study examines how Casita onboards external partners — education consultants, agents, and property providers</a:t>
            </a:r>
            <a:endParaRPr lang="en-US" sz="115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Focus: identifying key components, challenges, and opportunities to enhance partner satisfaction and operational efficiency</a:t>
            </a:r>
            <a:endParaRPr lang="en-US" sz="1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ECBD04-5037-A8FA-63D2-A12E164A4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862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About Casita Living LLP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371923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257135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98430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PropTech aggregator connecting students with verified housing near universities worldwide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95560" y="2371923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6394985" y="257135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Global Presence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94985" y="298430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62 countries with offices in India, Thailand, Spain, and Egypt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8086" y="4021534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897510" y="422096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Workforce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7510" y="463391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200+ employees across a flat, cross-functional organizational structure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95560" y="4021534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6394985" y="422096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 Position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94985" y="4633912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Ranked among the </a:t>
            </a: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Top 5</a:t>
            </a: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international student accommodation platforms globally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334FCC-DF6B-9519-2FB0-4ED8EA10D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527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120106"/>
            <a:ext cx="622363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Partnership Ecosystem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69971" y="3051969"/>
            <a:ext cx="2892849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Are the Partners?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269971" y="3477518"/>
            <a:ext cx="2892849" cy="93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Education consultants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Study-abroad agents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Property providers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07110" y="3051969"/>
            <a:ext cx="2892849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Onboarding Lifecycle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07110" y="3477518"/>
            <a:ext cx="2892849" cy="120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Identification &amp; verification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Orientation &amp; training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setup &amp; relationship building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529037-D937-46A0-AD05-C64F0ED6A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72431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Internship Role &amp; Responsibilities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13" y="2339479"/>
            <a:ext cx="4828459" cy="27361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42957" y="2830612"/>
            <a:ext cx="2197839" cy="212130"/>
          </a:xfrm>
          <a:prstGeom prst="roundRect">
            <a:avLst>
              <a:gd name="adj" fmla="val 7899"/>
            </a:avLst>
          </a:prstGeom>
          <a:solidFill>
            <a:srgbClr val="E2ECDF"/>
          </a:solidFill>
          <a:ln/>
        </p:spPr>
      </p:sp>
      <p:sp>
        <p:nvSpPr>
          <p:cNvPr id="5" name="Text 2"/>
          <p:cNvSpPr/>
          <p:nvPr/>
        </p:nvSpPr>
        <p:spPr>
          <a:xfrm>
            <a:off x="8026695" y="2872482"/>
            <a:ext cx="263994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DEVELOPMENT &amp; PARTNERSHIPS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942957" y="3081834"/>
            <a:ext cx="355690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Position: Partnership Management Intern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42957" y="3384947"/>
            <a:ext cx="3556903" cy="1275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Calling potential agents and capturing partner interest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Scheduling meetings with Casita's partnership manager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Sharing marketing materials and company profiles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Following up with leads and maintaining pipeline activity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Updating and maintaining CRM systems with accurate data</a:t>
            </a: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51D655-768D-B65A-F224-AEDA99F67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48830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Work Accomplishments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535734"/>
            <a:ext cx="5325731" cy="12146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795" y="2724249"/>
            <a:ext cx="4872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Partner Outreach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62795" y="3060005"/>
            <a:ext cx="487251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Initiated direct communication with potential partner agents and captured interest through compelling value propositions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7879" y="2535734"/>
            <a:ext cx="5325731" cy="12146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2588" y="2724249"/>
            <a:ext cx="4872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Meeting Coordination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432588" y="3060005"/>
            <a:ext cx="487251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Coordinated meetings between interested agents and Casita's partnership manager to advance relationships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894435"/>
            <a:ext cx="5325731" cy="12146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2795" y="4082951"/>
            <a:ext cx="4872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Marketing Collateral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62795" y="4418707"/>
            <a:ext cx="487251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Distributed company profiles and marketing materials tailored to individual partner needs and profiles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7879" y="3894435"/>
            <a:ext cx="5325731" cy="12146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32588" y="4082951"/>
            <a:ext cx="4872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Pipeline Management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432588" y="4418707"/>
            <a:ext cx="487251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Maintained consistent follow-ups to keep the pipeline active and proactively address partner concerns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1A63A1-8EA7-E037-D17A-8D2174010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053828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Skills Developed During the Internship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840732"/>
            <a:ext cx="423852" cy="4238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2015" y="2840732"/>
            <a:ext cx="470374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Communication &amp; CRM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302015" y="3176488"/>
            <a:ext cx="470374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voice modulation, rapport-building, and CRM system proficiency for effective partner engagement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5837" y="2840732"/>
            <a:ext cx="423852" cy="4238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89766" y="2840732"/>
            <a:ext cx="470384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Lead Management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789766" y="3176488"/>
            <a:ext cx="470384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Learned to identify prospects, understand preferences, and successfully convert leads into active partners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966567"/>
            <a:ext cx="423852" cy="4238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02015" y="3966567"/>
            <a:ext cx="470374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B2B Strategy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302015" y="4302323"/>
            <a:ext cx="470374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Developed entry-level B2B pitching techniques tailored for the competitive study-abroad accommodation market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5837" y="3966567"/>
            <a:ext cx="423852" cy="4238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89766" y="3966567"/>
            <a:ext cx="470384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Market Analysis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789766" y="4302323"/>
            <a:ext cx="470384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Analyzed industry trends and consumer insights to tailor Casita's offerings to specific partner segments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6DA076-530A-BDF2-1EA7-B39F8136BB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2275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82911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283" y="2117427"/>
            <a:ext cx="5166886" cy="32314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87238" y="3588441"/>
            <a:ext cx="1065248" cy="33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Consistent Follow-Ups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609862" y="4954624"/>
            <a:ext cx="1065249" cy="33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Customized Options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532784" y="3587747"/>
            <a:ext cx="1065248" cy="33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Communication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09862" y="2259649"/>
            <a:ext cx="1065249" cy="16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CRM Accuracy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58633" y="2867422"/>
            <a:ext cx="3541227" cy="179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CRM systems and accurate data entry are </a:t>
            </a: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critical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successful partner conversions</a:t>
            </a:r>
            <a:endParaRPr lang="en-US" sz="115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 communication significantly improves lead-to-booking conversion rates</a:t>
            </a:r>
            <a:endParaRPr lang="en-US" sz="115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Customized accommodation options consistently outperform generic recommendations</a:t>
            </a:r>
            <a:endParaRPr lang="en-US" sz="115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follow-ups and timely responses drive partner engagement and decision-making</a:t>
            </a:r>
            <a:endParaRPr lang="en-US" sz="11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895C4A-9B84-9CBC-466F-CC6C59C12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014934"/>
            <a:ext cx="622363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Critical Success Factors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69971" y="2623245"/>
            <a:ext cx="6223638" cy="2219821"/>
          </a:xfrm>
          <a:prstGeom prst="roundRect">
            <a:avLst>
              <a:gd name="adj" fmla="val 1011"/>
            </a:avLst>
          </a:prstGeom>
          <a:solidFill>
            <a:srgbClr val="F3E7D4"/>
          </a:solidFill>
          <a:ln/>
        </p:spPr>
      </p:sp>
      <p:sp>
        <p:nvSpPr>
          <p:cNvPr id="5" name="Shape 2"/>
          <p:cNvSpPr/>
          <p:nvPr/>
        </p:nvSpPr>
        <p:spPr>
          <a:xfrm>
            <a:off x="5269971" y="2623245"/>
            <a:ext cx="3111819" cy="1214636"/>
          </a:xfrm>
          <a:custGeom>
            <a:avLst/>
            <a:gdLst/>
            <a:ahLst/>
            <a:cxnLst/>
            <a:rect l="l" t="t" r="r" b="b"/>
            <a:pathLst>
              <a:path w="3111819" h="1214636">
                <a:moveTo>
                  <a:pt x="18701" y="0"/>
                </a:moveTo>
                <a:lnTo>
                  <a:pt x="3111819" y="0"/>
                </a:lnTo>
                <a:lnTo>
                  <a:pt x="3111819" y="1214636"/>
                </a:lnTo>
                <a:lnTo>
                  <a:pt x="0" y="1214636"/>
                </a:lnTo>
                <a:lnTo>
                  <a:pt x="0" y="18702"/>
                </a:lnTo>
                <a:arcTo wR="18701" hR="18702" stAng="10800000" swAng="5400000"/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5419490" y="2772767"/>
            <a:ext cx="281278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Customer-Centric Approach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19490" y="3060005"/>
            <a:ext cx="2812781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Tailoring solutions to specific partner and student needs directly increases satisfaction and conversion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81790" y="2623245"/>
            <a:ext cx="3111819" cy="1214636"/>
          </a:xfrm>
          <a:custGeom>
            <a:avLst/>
            <a:gdLst/>
            <a:ahLst/>
            <a:cxnLst/>
            <a:rect l="l" t="t" r="r" b="b"/>
            <a:pathLst>
              <a:path w="3111819" h="1214636">
                <a:moveTo>
                  <a:pt x="0" y="0"/>
                </a:moveTo>
                <a:lnTo>
                  <a:pt x="3093118" y="0"/>
                </a:lnTo>
                <a:arcTo wR="18701" hR="18702" stAng="16200000" swAng="5400000"/>
                <a:lnTo>
                  <a:pt x="3111819" y="1214636"/>
                </a:lnTo>
                <a:lnTo>
                  <a:pt x="0" y="1214636"/>
                </a:lnTo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9" name="Shape 6"/>
          <p:cNvSpPr/>
          <p:nvPr/>
        </p:nvSpPr>
        <p:spPr>
          <a:xfrm>
            <a:off x="8381790" y="2623245"/>
            <a:ext cx="19050" cy="1214636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0" name="Text 7"/>
          <p:cNvSpPr/>
          <p:nvPr/>
        </p:nvSpPr>
        <p:spPr>
          <a:xfrm>
            <a:off x="8531309" y="2772767"/>
            <a:ext cx="281278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Training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531309" y="3060005"/>
            <a:ext cx="2812781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Pitching, voice modulation, and customer handling skills are essential capabilities for driving successful conversions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69971" y="3837880"/>
            <a:ext cx="6223638" cy="1005185"/>
          </a:xfrm>
          <a:custGeom>
            <a:avLst/>
            <a:gdLst/>
            <a:ahLst/>
            <a:cxnLst/>
            <a:rect l="l" t="t" r="r" b="b"/>
            <a:pathLst>
              <a:path w="6223638" h="1005185">
                <a:moveTo>
                  <a:pt x="0" y="0"/>
                </a:moveTo>
                <a:lnTo>
                  <a:pt x="6223638" y="0"/>
                </a:lnTo>
                <a:lnTo>
                  <a:pt x="6223638" y="986484"/>
                </a:lnTo>
                <a:arcTo wR="18701" hR="18702" stAng="0" swAng="5400000"/>
                <a:lnTo>
                  <a:pt x="18701" y="1005185"/>
                </a:lnTo>
                <a:arcTo wR="18701" hR="18702" stAng="5400000" swAng="5400000"/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13" name="Shape 10"/>
          <p:cNvSpPr/>
          <p:nvPr/>
        </p:nvSpPr>
        <p:spPr>
          <a:xfrm>
            <a:off x="5269971" y="3837880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4" name="Text 11"/>
          <p:cNvSpPr/>
          <p:nvPr/>
        </p:nvSpPr>
        <p:spPr>
          <a:xfrm>
            <a:off x="5419490" y="3987403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Collaboration &amp; Mentorship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19490" y="4274641"/>
            <a:ext cx="5924600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feedback and mentorship accelerate learning curves and support ongoing sales optimization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1C0448D-732D-C5C2-D112-3163B71E0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66838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Recommendations for Casita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38" y="2410916"/>
            <a:ext cx="4489040" cy="2543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27082" y="1958777"/>
            <a:ext cx="357277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Priorities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27082" y="2244130"/>
            <a:ext cx="291696" cy="29170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7981453" y="2275582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03013" y="2288679"/>
            <a:ext cx="3196847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CRM Investment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03013" y="2563515"/>
            <a:ext cx="3196847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Adopt tools with enhanced tracking of customer behavior and automated follow-up scheduling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927082" y="3074293"/>
            <a:ext cx="291696" cy="29170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0" name="Text 7"/>
          <p:cNvSpPr/>
          <p:nvPr/>
        </p:nvSpPr>
        <p:spPr>
          <a:xfrm>
            <a:off x="7981453" y="3105745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03013" y="3118842"/>
            <a:ext cx="3196847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Expand Training Programs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03013" y="3393678"/>
            <a:ext cx="3196847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Broaden ongoing training in advanced sales techniques, digital tools, and market intelligence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27082" y="3904456"/>
            <a:ext cx="291696" cy="29170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4" name="Text 11"/>
          <p:cNvSpPr/>
          <p:nvPr/>
        </p:nvSpPr>
        <p:spPr>
          <a:xfrm>
            <a:off x="7981453" y="3935909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03013" y="3949005"/>
            <a:ext cx="3196847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Data-Driven Personalization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03013" y="4223841"/>
            <a:ext cx="3196847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Leverage analytics to predict partner trends and deliver more targeted, customized offerings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27082" y="4734620"/>
            <a:ext cx="291696" cy="291703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8" name="Text 15"/>
          <p:cNvSpPr/>
          <p:nvPr/>
        </p:nvSpPr>
        <p:spPr>
          <a:xfrm>
            <a:off x="7981453" y="4766072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3013" y="4779169"/>
            <a:ext cx="3196847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Increase Follow-Up Frequency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303013" y="5054005"/>
            <a:ext cx="3196847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 higher engagement touchpoints with undecided leads to minimize pipeline drop-off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09E994-0AB1-576E-95AA-63BD534DE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75" y="6400800"/>
            <a:ext cx="1609725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511</Words>
  <Application>Microsoft Office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Arial</vt:lpstr>
      <vt:lpstr>Source Sans 3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Aaditya Kumar Choudhary</cp:lastModifiedBy>
  <cp:revision>2</cp:revision>
  <dcterms:created xsi:type="dcterms:W3CDTF">2026-09-10T18:29:54Z</dcterms:created>
  <dcterms:modified xsi:type="dcterms:W3CDTF">2026-09-10T18:31:28Z</dcterms:modified>
</cp:coreProperties>
</file>